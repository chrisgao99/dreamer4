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A465E1-6F6A-4D82-8A33-3EEC5C0AF14A}">
  <a:tblStyle styleId="{CCA465E1-6F6A-4D82-8A33-3EEC5C0AF1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5724aa7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5724aa7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5724aa73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5724aa73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5724aa73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5724aa73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5724aa73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5724aa73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5724aa73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5724aa73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Probe latent Z </a:t>
            </a:r>
            <a:r>
              <a:rPr lang="en"/>
              <a:t>for representations</a:t>
            </a:r>
            <a:r>
              <a:rPr lang="en"/>
              <a:t> between two agents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866725"/>
            <a:ext cx="8520600" cy="42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Goal: Test if we can extract dynamics interaction info from Z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More specifically, the representation between two agents should tell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Which agent is more related to focus agent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How focus agent should react to the other agent 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Probing method </a:t>
            </a:r>
            <a:endParaRPr>
              <a:solidFill>
                <a:schemeClr val="dk1"/>
              </a:solidFill>
            </a:endParaRPr>
          </a:p>
          <a:p>
            <a:pPr indent="-29908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q = QueryNet(focus agent state, candidate agent state)</a:t>
            </a:r>
            <a:endParaRPr sz="1200">
              <a:solidFill>
                <a:srgbClr val="3B3B3B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908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h = CrossAttention(Q=q, K=Z, V=Z)</a:t>
            </a:r>
            <a:endParaRPr sz="1200">
              <a:solidFill>
                <a:srgbClr val="3B3B3B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9085" lvl="1" marL="914400" rtl="0" algn="l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ct val="100000"/>
              <a:buFont typeface="Courier New"/>
              <a:buChar char="○"/>
            </a:pPr>
            <a:r>
              <a:rPr lang="en" sz="12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Output = OutputHead (h)</a:t>
            </a:r>
            <a:endParaRPr sz="1200">
              <a:solidFill>
                <a:srgbClr val="3B3B3B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B3B3B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Comparison groups</a:t>
            </a:r>
            <a:endParaRPr>
              <a:solidFill>
                <a:schemeClr val="dk1"/>
              </a:solidFill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>
                <a:solidFill>
                  <a:schemeClr val="dk1"/>
                </a:solidFill>
              </a:rPr>
              <a:t>Raw state (raw_only) vs. using raw stes to probe Z (raw_z)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Probing Input</a:t>
            </a:r>
            <a:endParaRPr>
              <a:solidFill>
                <a:schemeClr val="dk1"/>
              </a:solidFill>
            </a:endParaRPr>
          </a:p>
          <a:p>
            <a:pPr indent="-310832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>
                <a:solidFill>
                  <a:schemeClr val="dk1"/>
                </a:solidFill>
              </a:rPr>
              <a:t>For probing Z, use Z[31], which is the last timestep of a tokenizer window</a:t>
            </a:r>
            <a:endParaRPr>
              <a:solidFill>
                <a:schemeClr val="dk1"/>
              </a:solidFill>
            </a:endParaRPr>
          </a:p>
          <a:p>
            <a:pPr indent="-310832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>
                <a:solidFill>
                  <a:schemeClr val="dk1"/>
                </a:solidFill>
              </a:rPr>
              <a:t>Z[31] also encodes past from time attention layer in tokenizer</a:t>
            </a:r>
            <a:endParaRPr>
              <a:solidFill>
                <a:schemeClr val="dk1"/>
              </a:solidFill>
            </a:endParaRPr>
          </a:p>
          <a:p>
            <a:pPr indent="-310832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>
                <a:solidFill>
                  <a:schemeClr val="dk1"/>
                </a:solidFill>
              </a:rPr>
              <a:t>For raw states, use the the two agent states at timestep 31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probe: Related or not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866725"/>
            <a:ext cx="8520600" cy="41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●"/>
            </a:pPr>
            <a:r>
              <a:rPr lang="en">
                <a:solidFill>
                  <a:schemeClr val="dk1"/>
                </a:solidFill>
              </a:rPr>
              <a:t>Experiment settings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Char char="○"/>
            </a:pPr>
            <a:r>
              <a:rPr lang="en">
                <a:solidFill>
                  <a:schemeClr val="dk1"/>
                </a:solidFill>
              </a:rPr>
              <a:t>Related definition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Char char="■"/>
            </a:pPr>
            <a:r>
              <a:rPr lang="en" sz="1200">
                <a:solidFill>
                  <a:schemeClr val="dk1"/>
                </a:solidFill>
              </a:rPr>
              <a:t>Converging_conflict (small heading difference ), crossing_or_oncoming_conflict (big heading difference), other_follows_focus,other_leads_focus</a:t>
            </a:r>
            <a:endParaRPr sz="12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Results</a:t>
            </a:r>
            <a:b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●"/>
            </a:pPr>
            <a:r>
              <a:rPr lang="en">
                <a:solidFill>
                  <a:schemeClr val="dk1"/>
                </a:solidFill>
              </a:rPr>
              <a:t>Summary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Char char="○"/>
            </a:pPr>
            <a:r>
              <a:rPr lang="en">
                <a:solidFill>
                  <a:schemeClr val="dk1"/>
                </a:solidFill>
              </a:rPr>
              <a:t>Both of them have acc around 0.9 meaning it’s easy to tell if an agent is related based on one timestep state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62" name="Google Shape;62;p14"/>
          <p:cNvGraphicFramePr/>
          <p:nvPr/>
        </p:nvGraphicFramePr>
        <p:xfrm>
          <a:off x="1555750" y="2452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{CCA465E1-6F6A-4D82-8A33-3EEC5C0AF14A}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Mode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Relevance Precision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Relevance Recall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Relevance AP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Type Accuracy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raw_only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raw_z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 probe: Relation type breakdown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817075" y="866725"/>
            <a:ext cx="4015200" cy="41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Further categorize how the other agent is related to the focus agent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Results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300">
                <a:solidFill>
                  <a:schemeClr val="dk1"/>
                </a:solidFill>
              </a:rPr>
              <a:t>These results are not strong enough to claim interaction understanding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200">
                <a:solidFill>
                  <a:schemeClr val="dk1"/>
                </a:solidFill>
              </a:rPr>
              <a:t>raw_z provides essentially no improvement over raw_only</a:t>
            </a:r>
            <a:endParaRPr sz="1200">
              <a:solidFill>
                <a:schemeClr val="dk1"/>
              </a:solidFill>
            </a:endParaRPr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</a:pPr>
            <a:r>
              <a:rPr lang="en" sz="1200">
                <a:solidFill>
                  <a:schemeClr val="dk1"/>
                </a:solidFill>
              </a:rPr>
              <a:t>Z does not add meaningful interaction-relevant information beyond what is already present in the raw state.</a:t>
            </a:r>
            <a:endParaRPr sz="1200">
              <a:solidFill>
                <a:schemeClr val="dk1"/>
              </a:solidFill>
            </a:endParaRPr>
          </a:p>
        </p:txBody>
      </p:sp>
      <p:graphicFrame>
        <p:nvGraphicFramePr>
          <p:cNvPr id="69" name="Google Shape;69;p15"/>
          <p:cNvGraphicFramePr/>
          <p:nvPr/>
        </p:nvGraphicFramePr>
        <p:xfrm>
          <a:off x="258850" y="968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{CCA465E1-6F6A-4D82-8A33-3EEC5C0AF14A}</a:tableStyleId>
              </a:tblPr>
              <a:tblGrid>
                <a:gridCol w="808550"/>
                <a:gridCol w="1808200"/>
                <a:gridCol w="660575"/>
                <a:gridCol w="549625"/>
                <a:gridCol w="486200"/>
              </a:tblGrid>
              <a:tr h="234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Mode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Class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Precision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Recall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F1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429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raw_only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converging_conflict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0.851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0.675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0.753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513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raw_only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crossing_or_oncoming_conflict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0.832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0.914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0.871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29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raw_only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other_follows_focus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0.936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0.962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0.948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29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raw_only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other_leads_focus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0.908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0.940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0.923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29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raw_z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converging_conflict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0.825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0.688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0.750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503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raw_z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crossing_or_oncoming_conflict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0.823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0.912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0.865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29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raw_z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other_follows_focus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0.942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0.953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0.947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29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raw_z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other_leads_focus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0.906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0.937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0.921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Third probe: how the focus agent reacts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159300" y="795425"/>
            <a:ext cx="8520600" cy="42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React category </a:t>
            </a:r>
            <a:endParaRPr sz="15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Focus goes first: focus arrives at certain area earlier than the other one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Focus decel: focus speed drop&gt;1.5, max_decel&gt;1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Focus yields: focus arrives late while also decel, which is the combination of prior two</a:t>
            </a:r>
            <a:br>
              <a:rPr lang="en" sz="1100">
                <a:solidFill>
                  <a:schemeClr val="dk1"/>
                </a:solidFill>
              </a:rPr>
            </a:br>
            <a:endParaRPr sz="2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chemeClr val="dk1"/>
                </a:solidFill>
              </a:rPr>
              <a:t>Results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Analysis</a:t>
            </a:r>
            <a:endParaRPr sz="15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Still both of the results are not good enough to show reaction plans encoded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The similar results indicates the current prober is guessing what is going to happen from one step agent states</a:t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76" name="Google Shape;76;p16"/>
          <p:cNvGraphicFramePr/>
          <p:nvPr/>
        </p:nvGraphicFramePr>
        <p:xfrm>
          <a:off x="1602250" y="1845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{CCA465E1-6F6A-4D82-8A33-3EEC5C0AF14A}</a:tableStyleId>
              </a:tblPr>
              <a:tblGrid>
                <a:gridCol w="624875"/>
                <a:gridCol w="2062850"/>
                <a:gridCol w="824000"/>
                <a:gridCol w="757625"/>
                <a:gridCol w="691250"/>
              </a:tblGrid>
              <a:tr h="323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Mode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Response Class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Precision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Recall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AP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33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raw_only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focus_goes_first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0.786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0.859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0.907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raw_only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focus_yields_to_other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0.406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0.861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0.639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raw_only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focus_decelerates_for_interaction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0.867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0.906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raw_z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focus_goes_first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0.814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0.828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0.913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raw_z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focus_yields_to_other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0.393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0.636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raw_z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focus_decelerates_for_interaction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0.785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0.891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 for improving Z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866725"/>
            <a:ext cx="8520600" cy="39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Probing results takeaway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Z does not provide interactive information beyond raw kinematics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should improve Z itself not on how to probe Z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to make Z encode </a:t>
            </a:r>
            <a:r>
              <a:rPr lang="en"/>
              <a:t>dynamics interaction info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Interaction-aware contrastive fine tuning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Goal: make agent pairs with similar interaction behaviors have close representations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contrastive loss should be applied to agent pair embeddings not the whole scene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Method: Given two pair instances with similar future interactions,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Pair A = (scene a, Z</a:t>
            </a:r>
            <a:r>
              <a:rPr baseline="-25000" lang="en" sz="1200"/>
              <a:t>a</a:t>
            </a:r>
            <a:r>
              <a:rPr lang="en" sz="1200"/>
              <a:t>,agent i, agent j) , Pair B = </a:t>
            </a:r>
            <a:r>
              <a:rPr lang="en" sz="1200">
                <a:solidFill>
                  <a:schemeClr val="dk1"/>
                </a:solidFill>
              </a:rPr>
              <a:t>(scene b, Z</a:t>
            </a:r>
            <a:r>
              <a:rPr baseline="-25000" lang="en" sz="1200">
                <a:solidFill>
                  <a:schemeClr val="dk1"/>
                </a:solidFill>
              </a:rPr>
              <a:t>b</a:t>
            </a:r>
            <a:r>
              <a:rPr lang="en" sz="1200">
                <a:solidFill>
                  <a:schemeClr val="dk1"/>
                </a:solidFill>
              </a:rPr>
              <a:t>,agent m, agent n)</a:t>
            </a:r>
            <a:endParaRPr sz="1200">
              <a:solidFill>
                <a:schemeClr val="dk1"/>
              </a:solidFill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" sz="1200">
                <a:solidFill>
                  <a:schemeClr val="dk1"/>
                </a:solidFill>
              </a:rPr>
              <a:t>h</a:t>
            </a:r>
            <a:r>
              <a:rPr baseline="-25000" lang="en" sz="1200">
                <a:solidFill>
                  <a:schemeClr val="dk1"/>
                </a:solidFill>
              </a:rPr>
              <a:t>A</a:t>
            </a:r>
            <a:r>
              <a:rPr lang="en" sz="1200">
                <a:solidFill>
                  <a:schemeClr val="dk1"/>
                </a:solidFill>
              </a:rPr>
              <a:t> = </a:t>
            </a:r>
            <a:r>
              <a:rPr lang="en" sz="1200"/>
              <a:t>CrossAttention( Q=q</a:t>
            </a:r>
            <a:r>
              <a:rPr baseline="-25000" lang="en" sz="1200"/>
              <a:t>ij</a:t>
            </a:r>
            <a:r>
              <a:rPr lang="en" sz="1200"/>
              <a:t>, K=</a:t>
            </a:r>
            <a:r>
              <a:rPr lang="en" sz="1200">
                <a:solidFill>
                  <a:schemeClr val="dk1"/>
                </a:solidFill>
              </a:rPr>
              <a:t>Z</a:t>
            </a:r>
            <a:r>
              <a:rPr baseline="-25000" lang="en" sz="1200">
                <a:solidFill>
                  <a:schemeClr val="dk1"/>
                </a:solidFill>
              </a:rPr>
              <a:t>a</a:t>
            </a:r>
            <a:r>
              <a:rPr lang="en" sz="1200"/>
              <a:t>, V=</a:t>
            </a:r>
            <a:r>
              <a:rPr lang="en" sz="1200">
                <a:solidFill>
                  <a:schemeClr val="dk1"/>
                </a:solidFill>
              </a:rPr>
              <a:t>Z</a:t>
            </a:r>
            <a:r>
              <a:rPr baseline="-25000" lang="en" sz="1200">
                <a:solidFill>
                  <a:schemeClr val="dk1"/>
                </a:solidFill>
              </a:rPr>
              <a:t>a</a:t>
            </a:r>
            <a:r>
              <a:rPr lang="en" sz="1200"/>
              <a:t> ), </a:t>
            </a:r>
            <a:r>
              <a:rPr lang="en" sz="1200">
                <a:solidFill>
                  <a:schemeClr val="dk1"/>
                </a:solidFill>
              </a:rPr>
              <a:t>h</a:t>
            </a:r>
            <a:r>
              <a:rPr baseline="-25000" lang="en" sz="1200">
                <a:solidFill>
                  <a:schemeClr val="dk1"/>
                </a:solidFill>
              </a:rPr>
              <a:t>B</a:t>
            </a:r>
            <a:r>
              <a:rPr lang="en" sz="1200">
                <a:solidFill>
                  <a:schemeClr val="dk1"/>
                </a:solidFill>
              </a:rPr>
              <a:t> = CrossAttention( Q=q</a:t>
            </a:r>
            <a:r>
              <a:rPr baseline="-25000" lang="en" sz="1200">
                <a:solidFill>
                  <a:schemeClr val="dk1"/>
                </a:solidFill>
              </a:rPr>
              <a:t>mn</a:t>
            </a:r>
            <a:r>
              <a:rPr lang="en" sz="1200">
                <a:solidFill>
                  <a:schemeClr val="dk1"/>
                </a:solidFill>
              </a:rPr>
              <a:t>, K=Z</a:t>
            </a:r>
            <a:r>
              <a:rPr baseline="-25000" lang="en" sz="1200">
                <a:solidFill>
                  <a:schemeClr val="dk1"/>
                </a:solidFill>
              </a:rPr>
              <a:t>b</a:t>
            </a:r>
            <a:r>
              <a:rPr lang="en" sz="1200">
                <a:solidFill>
                  <a:schemeClr val="dk1"/>
                </a:solidFill>
              </a:rPr>
              <a:t>, V=Z</a:t>
            </a:r>
            <a:r>
              <a:rPr baseline="-25000" lang="en" sz="1200">
                <a:solidFill>
                  <a:schemeClr val="dk1"/>
                </a:solidFill>
              </a:rPr>
              <a:t>b</a:t>
            </a:r>
            <a:r>
              <a:rPr lang="en" sz="1200">
                <a:solidFill>
                  <a:schemeClr val="dk1"/>
                </a:solidFill>
              </a:rPr>
              <a:t> )</a:t>
            </a:r>
            <a:endParaRPr sz="1200">
              <a:solidFill>
                <a:schemeClr val="dk1"/>
              </a:solidFill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" sz="1200">
                <a:solidFill>
                  <a:schemeClr val="dk1"/>
                </a:solidFill>
              </a:rPr>
              <a:t>The contrastive loss pull h</a:t>
            </a:r>
            <a:r>
              <a:rPr baseline="-25000" lang="en" sz="1200">
                <a:solidFill>
                  <a:schemeClr val="dk1"/>
                </a:solidFill>
              </a:rPr>
              <a:t>A </a:t>
            </a:r>
            <a:r>
              <a:rPr lang="en" sz="1200">
                <a:solidFill>
                  <a:schemeClr val="dk1"/>
                </a:solidFill>
              </a:rPr>
              <a:t>h</a:t>
            </a:r>
            <a:r>
              <a:rPr baseline="-25000" lang="en" sz="1200">
                <a:solidFill>
                  <a:schemeClr val="dk1"/>
                </a:solidFill>
              </a:rPr>
              <a:t>B  </a:t>
            </a:r>
            <a:r>
              <a:rPr lang="en" sz="1200">
                <a:solidFill>
                  <a:schemeClr val="dk1"/>
                </a:solidFill>
              </a:rPr>
              <a:t>closer</a:t>
            </a:r>
            <a:endParaRPr sz="1200">
              <a:solidFill>
                <a:schemeClr val="dk1"/>
              </a:solidFill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" sz="1200">
                <a:solidFill>
                  <a:schemeClr val="dk1"/>
                </a:solidFill>
              </a:rPr>
              <a:t>Importantly, we do not force Z</a:t>
            </a:r>
            <a:r>
              <a:rPr baseline="-25000" lang="en" sz="1200">
                <a:solidFill>
                  <a:schemeClr val="dk1"/>
                </a:solidFill>
              </a:rPr>
              <a:t>a </a:t>
            </a:r>
            <a:r>
              <a:rPr lang="en" sz="1200">
                <a:solidFill>
                  <a:schemeClr val="dk1"/>
                </a:solidFill>
              </a:rPr>
              <a:t>,</a:t>
            </a:r>
            <a:r>
              <a:rPr baseline="-25000" lang="en" sz="1200">
                <a:solidFill>
                  <a:schemeClr val="dk1"/>
                </a:solidFill>
              </a:rPr>
              <a:t>  </a:t>
            </a:r>
            <a:r>
              <a:rPr lang="en" sz="1200">
                <a:solidFill>
                  <a:schemeClr val="dk1"/>
                </a:solidFill>
              </a:rPr>
              <a:t>Z</a:t>
            </a:r>
            <a:r>
              <a:rPr baseline="-25000" lang="en" sz="1200">
                <a:solidFill>
                  <a:schemeClr val="dk1"/>
                </a:solidFill>
              </a:rPr>
              <a:t>b </a:t>
            </a:r>
            <a:r>
              <a:rPr lang="en" sz="1200">
                <a:solidFill>
                  <a:schemeClr val="dk1"/>
                </a:solidFill>
              </a:rPr>
              <a:t>close. </a:t>
            </a:r>
            <a:endParaRPr sz="1200">
              <a:solidFill>
                <a:schemeClr val="dk1"/>
              </a:solidFill>
            </a:endParaRPr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 objective is to reshape Z so that interaction pair representation can be read out more clearly.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